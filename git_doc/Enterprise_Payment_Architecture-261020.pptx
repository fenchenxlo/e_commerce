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商店級第三方金流 API Endpoint 流程架構</a:t>
            </a:r>
          </a:p>
          <a:p>
            <a:pPr>
              <a:spcAft>
                <a:spcPts val="2400"/>
              </a:spcAft>
              <a:defRPr sz="2000">
                <a:solidFill>
                  <a:srgbClr val="3B82F6"/>
                </a:solidFill>
              </a:defRPr>
            </a:pPr>
            <a:r>
              <a:t>ATM 虛擬帳號與 COD 超商取貨付款核心機制與一致性設計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解構商城 (E_commerce)、金流 (ecpay_mock) 與銀行 (Bank_site) 三方交互邏輯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傳統交易 6 大核心痛點與第三方金流平台解法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1. 人工對帳繁瑣與對錯帳風險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傳統：買家提供末五碼，商家登入網銀人工對帳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解法：一單一專屬 ATM 虛擬帳號，銀行自動發起 Callback 完成即時自動對帳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2. 跨系統狀態不一致與掉單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傳統：網路中斷導致單邊更新，引發買家付款扣款爭議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解法：嚴格實施「下游先成功，才寫自己 DB」順序與交易編號鎖定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3. 庫存管理混亂與超賣/無效佔用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傳統：未即時付款佔用庫存，或多人同時下單導致超賣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解法：三階段庫存控管 (Reserved / Committed / Released) 防搶單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4. 取消交易流程繁瑣與重複扣款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傳統：跨部門人工照會，取消狀態無法即時同步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解法：建立由上而下 (E➔P➔B) 雙向取消鏈與 cancelled 終態保護守衛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5. 交易資料竄改與安全性風險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傳統：前端封包缺乏驗證，金額易被非法改動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解法：全跨系統通訊強制 CheckMacValue 壓碼簽章雙向驗證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6. 超商取貨付款與物流資訊斷層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傳統：無法即時掌握包裹配送與門市取貨狀況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解法：整合 COD 門市選擇與配送/取貨付款/逾期狀態自動回傳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Clean Layered Architecture 程式碼分層與職責邊界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View 邊界層 (Views &amp; URLs)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接收與解析 HTTP 請求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強制 CheckMacValue 壓碼簽章驗證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Session 處理與頁面轉向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絕不包含核心商業邏輯與 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Service 服務層 (Business Services)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封裝核心業務邏輯與狀態轉移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庫存預留、扣抵與釋放調度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交易終態 Protection (cancelled/expired Guard)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協同多個 Domain Models 完成交易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Interface 介面層 (Abstract Interfaces)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定義跨系統通訊與資料存取契約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隔離具體 HTTP 實作細節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確保架構可擴充與可單元測試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Adapter 轉接層 (Adapters &amp; Clients)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專責發起跨專案 httpx 通訊 (E, P, B)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自動注入 CheckMacValue 簽章產出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處理 API 回應解析與異常重試/拋出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雙重 CheckMacValue 壓碼簽章與獨立安全防護邊界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第一段簽章：商店 (E_commerce) ➔ 金流 (ecpay_mock)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通訊範疇：POST /gateway/ecpay_gateway_checkout/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簽章演算法：SHA256(HashKey + Params + HashIV)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發送端：E_commerce PaymentService/Adapter 自動計算 CheckMacValue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接收端：ecpay_mock View 進入點首要執行 CheckMacValue 驗證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防護目的：防止買家篡改金額 (trade_amt) 或訂單號 (merchant_trade_no)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第二段簽章：金流 (ecpay_mock) ➔ 銀行 (Bank_site)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通訊範疇：POST /notify/create_account/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獨立密鑰：金流與銀行間採用獨立專屬 HashKey / HashIV 密鑰對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發送端：ecpay_mock 向 Bank_site 請求建立虛擬帳號時重新簽章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接收端：Bank_site 入口點進行第二段獨立驗簽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防護目的：確保跨系統金流指令發送源頭合法，避免偽造轉帳通知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ATM 虛擬帳號流程：帳號產生與自動對帳通知鏈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1. 帳號建立鏈 (E ➔ P ➔ B 順向請求)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[E_commerce] 買家結帳 ➔ 建立 Order(pending_payment) 備扣庫存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[E_commerce] 呼叫 ecpay_mock 發起 ATM 付款請求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[ecpay_mock] 驗簽後建立 gateway.Order ➔ 呼叫 Bank_site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[Bank_site] 驗簽後建立 VirtualAccount(atm_created)，產生 013 國泰金虛擬帳號與 3 天效期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[回傳鏈] 銀行回傳帳號 ➔ 金流紀錄 ➔ 商城顯示待付款與 ATM 帳號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2. 自動對帳通知鏈 (B ➔ P ➔ E 逆向通知)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[Bank_site] 買家完成轉帳 ➔ 觸發對帳通知機制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[Bank_site ➔ ecpay_mock] 呼叫 /gateway/payment_notify/ 帶入交易結果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[ecpay_mock ➔ E_commerce] 驗簽後呼叫 /atm_payment_notify/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[E_commerce] handle_atm_callback 更新 Payment=success, Order=paid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[庫存過戶] 預留庫存 (reserved) 正式轉為扣抵 (committed)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ATM 異常處理：未付款、逾期與 cancelled 終態保護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未收到款項 (Failed)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Bank_site 模擬未收到款項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ecpay_mock 狀態記為 atm_failed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E_commerce Payment 設為 failed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核心保護：Order 維持 pending_payment，不釋放庫存！買家可重新嘗試付款或取消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逾期未付款 (Expired)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超過 3 天付款期限未轉帳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Bank 標記 VirtualAccount=expired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通知 E_commerce 將 Order/Payment 設為 expired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核心保護：系統自動釋放預留庫存 (released) 回補可用庫存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cancelled 終態保護守衛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訂單取消後狀態設為 cancelled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Bank, P, E 三層均設有 cancelled 守衛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防護機制：若對已被取消的訂單發起模擬付款，系統將直接拋出 ValueError 並拒絕更新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COD 超商取貨付款：三階段 Session 安全選店機制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階段一：電子地圖選擇 (select_store)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買家由 E 轉導至 P 之門市選擇頁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整合 Leaflet 與台灣門市地圖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買家點選 7-11 / 全家 / 萊爾富 / OK 門市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僅於前端互動，不寫入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階段二：資料核對 (review_store)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將選定門市資料 (ID, Name, Address) 寫入 P 的 Session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展示門市與收件人確認頁面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完全隔離未確認的無效門市資料，防資料庫污染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階段三：確認發起 (confirm_store)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買家點擊「確認門市」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 優先 httpx 通知 E 儲存門市資訊至 COD Payment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 成功回應後，P 才建立 gateway.Order 與 CODPaymentRequest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COD 物流配送與門市取貨付款狀態即時同步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1. 物流配送與成功取貨付款 (cod_paid)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[包裹送達] 模擬包裹抵達超商 (mock_shipped) ➔ E_commerce Order 轉為 shipped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[買家取貨] 買家於門市付款取貨 (simulate_cvscod_paid)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[狀態同步] P 發送 Notify ➔ E_commerce 將 Payment 設為 success、Order 設為 paid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[庫存扣抵] 庫存狀態正式由預留 (reserved) 轉為扣抵 (committed)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2. 取貨失敗與逾期未取處理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[取貨失敗 (cod_failed)] 門市取貨異常 ➔ Payment 設為 failed，Order 維持 pending_payment 保留庫存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[逾期未取 (cod_expired)] 包裹七天逾期未取被退件 ➔ Order/Payment 設為 expired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[庫存釋放] 系統自動執行釋放邏輯，將預留庫存歸還給商品總庫存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管理員後台測試模擬面板 (Admin Simulation Panel) 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ATM 模擬測試面板 (Bank_site: query_and_simulate.html)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測試範疇：模擬真實銀行轉帳與對帳流程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功能一 (simulate_paid)：模擬收到轉帳款項，發起通知鏈將訂單改為 paid 並 commit 庫存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功能二 (simulate_failed)：模擬扣款失敗/無效帳號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功能三 (simulate_expired)：模擬轉帳逾期，測試庫存自動釋放機制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COD 模擬測試面板 (ecpay_mock: query_simulate_cod.html)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測試範疇：模擬超商物流與門市取貨付款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功能一 (mock_shipped)：模擬物流發貨與包裹送達門市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功能二 (simulate_cvscod_paid)：模擬買家於門市完成現金付款與取貨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功能三 (simulate_expired)：模擬逾期未取退件流程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庫存三階段精準管控 (Reserved / Committed / Released)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預留階段 (Reserved)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買家完成下單結帳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Product.stock 扣減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reserved_stock 增加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InventoryReservation 標記為 reserved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保障買家有貨可買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扣抵階段 (Committed)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收到付款成功通知 (ATM/COD paid)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reserved_stock 扣減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InventoryReservation 轉為 committed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庫存正式過戶完成交易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釋放階段 (Released)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訂單取消 (cancelled) 或逾期 (expired)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reserved_stock 扣減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Product.stock 加回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InventoryReservation 標記為 released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自動回補可用庫存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跨系統雙向取消鏈 (E_commerce ➔ ecpay_mock ➔ Bank_site)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1. 由上而下的發起與校驗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買家於商城點擊「取消訂單」 (僅限 pending_payment 或 failed 狀態)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E_commerce 檢查狀態 ➔ 向下游 ecpay_mock 發起 cancel_order 請求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ecpay_mock 檢查狀態（若已 paid/expired 則拒絕）➔ 向下游 Bank_site 發起 cancel_account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Bank_site 將 VirtualAccount 標記為 cancelled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2. 成功回應與本地資料庫寫入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鏈尾 (Bank_site) 取消成功 ➔ 回傳 Response 至 ecpay_mock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ecpay_mock 將 PaymentRequest 與 gateway.Order 設為 cancelled ➔ 回傳 Response 至 E_commerce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E_commerce 將 Order/Payment 設為 cancelled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發起庫存釋放 (released)，將預留庫存歸還給商品總庫存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商店級第三方金流 API ENDPOINT 流程架構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傳統交易 vs 現代第三方金流 API Endpoint 架構對比矩陣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97680"/>
                <a:gridCol w="4419295"/>
              </a:tblGrid>
              <a:tr h="777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59E0B"/>
                          </a:solidFill>
                        </a:defRPr>
                      </a:pPr>
                      <a:r>
                        <a:t>比較維度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59E0B"/>
                          </a:solidFill>
                        </a:defRPr>
                      </a:pPr>
                      <a:r>
                        <a:t>傳統交易模式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59E0B"/>
                          </a:solidFill>
                        </a:defRPr>
                      </a:pPr>
                      <a:r>
                        <a:t>現代第三方金流 API Endpoint 架構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B82F6"/>
                          </a:solidFill>
                        </a:defRPr>
                      </a:pPr>
                      <a:r>
                        <a:t>對帳機制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人工比對網銀帳號末五碼，耗時且易出錯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一單一專屬 ATM 虛擬帳號，銀行發起 Callback 自動對帳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B82F6"/>
                          </a:solidFill>
                        </a:defRPr>
                      </a:pPr>
                      <a:r>
                        <a:t>資料一致性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單邊更新易導致掉單，爭議處理繁瑣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實施「下游先成功，才寫自己 DB」寫入順序與交易編號鎖定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B82F6"/>
                          </a:solidFill>
                        </a:defRPr>
                      </a:pPr>
                      <a:r>
                        <a:t>庫存控管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下單即扣庫存造成棄單無效佔用或超賣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三階段精準管控 (Reserved/Committed/Released) 與防搶單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B82F6"/>
                          </a:solidFill>
                        </a:defRPr>
                      </a:pPr>
                      <a:r>
                        <a:t>取消與終態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跨部門人工照會，無法防範退款後扣款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由上而下雙向取消鏈 (E➔P➔B) 與 cancelled/expired 終態守衛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B82F6"/>
                          </a:solidFill>
                        </a:defRPr>
                      </a:pPr>
                      <a:r>
                        <a:t>安全防護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前端參數易被攔截與非法篡改金額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全跨系統通訊強制 CheckMacValue 壓碼簽章雙向驗證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